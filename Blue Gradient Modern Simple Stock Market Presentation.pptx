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Semi-Bold" charset="1" panose="000007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361449" y="6364100"/>
            <a:ext cx="6492240" cy="0"/>
          </a:xfrm>
          <a:prstGeom prst="line">
            <a:avLst/>
          </a:prstGeom>
          <a:ln cap="flat" w="28575">
            <a:solidFill>
              <a:srgbClr val="459DA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999" y="4801195"/>
            <a:ext cx="14275750" cy="105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8"/>
              </a:lnSpc>
            </a:pPr>
            <a:r>
              <a:rPr lang="en-US" sz="7634" spc="-389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DNN-Based Stock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5402" y="6152025"/>
            <a:ext cx="10469532" cy="131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448" spc="306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PRESENTED BY:-</a:t>
            </a:r>
          </a:p>
          <a:p>
            <a:pPr algn="l">
              <a:lnSpc>
                <a:spcPts val="3428"/>
              </a:lnSpc>
            </a:pPr>
            <a:r>
              <a:rPr lang="en-US" sz="2448" spc="306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KIMAYA BHAVE(1032222235)</a:t>
            </a:r>
          </a:p>
          <a:p>
            <a:pPr algn="l" marL="0" indent="0" lvl="0">
              <a:lnSpc>
                <a:spcPts val="3428"/>
              </a:lnSpc>
              <a:spcBef>
                <a:spcPct val="0"/>
              </a:spcBef>
            </a:pPr>
            <a:r>
              <a:rPr lang="en-US" sz="2448" spc="306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RISSHI BHAGAT(1032220478)</a:t>
            </a:r>
          </a:p>
        </p:txBody>
      </p:sp>
      <p:grpSp>
        <p:nvGrpSpPr>
          <p:cNvPr name="Group 14" id="14"/>
          <p:cNvGrpSpPr/>
          <p:nvPr/>
        </p:nvGrpSpPr>
        <p:grpSpPr>
          <a:xfrm rot="-2843285">
            <a:off x="14115223" y="9160793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43285">
            <a:off x="14115223" y="9160793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6764518" y="3909194"/>
            <a:ext cx="2708082" cy="0"/>
          </a:xfrm>
          <a:prstGeom prst="line">
            <a:avLst/>
          </a:prstGeom>
          <a:ln cap="flat" w="28575">
            <a:solidFill>
              <a:srgbClr val="459DA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504251" y="2639748"/>
            <a:ext cx="7968349" cy="125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9165" spc="-467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4251" y="4243913"/>
            <a:ext cx="14420758" cy="487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1"/>
              </a:lnSpc>
              <a:spcBef>
                <a:spcPct val="0"/>
              </a:spcBef>
            </a:pPr>
            <a:r>
              <a:rPr lang="en-US" sz="2859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ck ma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ghly vola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ile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nd influenc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by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mpl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x pat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rns.</a:t>
            </a:r>
          </a:p>
          <a:p>
            <a:pPr algn="l" marL="0" indent="0" lvl="0">
              <a:lnSpc>
                <a:spcPts val="4861"/>
              </a:lnSpc>
              <a:spcBef>
                <a:spcPct val="0"/>
              </a:spcBef>
            </a:pP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radi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m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odels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c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ptur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non-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onship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 fin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 dat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a.</a:t>
            </a:r>
          </a:p>
          <a:p>
            <a:pPr algn="l" marL="0" indent="0" lvl="0">
              <a:lnSpc>
                <a:spcPts val="4861"/>
              </a:lnSpc>
              <a:spcBef>
                <a:spcPct val="0"/>
              </a:spcBef>
            </a:pP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bj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ec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tive of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projec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s:</a:t>
            </a:r>
          </a:p>
          <a:p>
            <a:pPr algn="l" marL="617356" indent="-308678" lvl="1">
              <a:lnSpc>
                <a:spcPts val="4861"/>
              </a:lnSpc>
              <a:spcBef>
                <a:spcPct val="0"/>
              </a:spcBef>
              <a:buFont typeface="Arial"/>
              <a:buChar char="•"/>
            </a:pP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edi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next-d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tock clo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ing prices</a:t>
            </a:r>
          </a:p>
          <a:p>
            <a:pPr algn="l" marL="617356" indent="-308678" lvl="1">
              <a:lnSpc>
                <a:spcPts val="4861"/>
              </a:lnSpc>
              <a:spcBef>
                <a:spcPct val="0"/>
              </a:spcBef>
              <a:buFont typeface="Arial"/>
              <a:buChar char="•"/>
            </a:pP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conver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 pre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dictions into a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ding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egy</a:t>
            </a:r>
          </a:p>
          <a:p>
            <a:pPr algn="l" marL="617356" indent="-308678" lvl="1">
              <a:lnSpc>
                <a:spcPts val="4861"/>
              </a:lnSpc>
              <a:spcBef>
                <a:spcPct val="0"/>
              </a:spcBef>
              <a:buFont typeface="Arial"/>
              <a:buChar char="•"/>
            </a:pP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val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uat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perf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rma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85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 with risk management</a:t>
            </a:r>
          </a:p>
          <a:p>
            <a:pPr algn="l" marL="0" indent="0" lvl="0">
              <a:lnSpc>
                <a:spcPts val="48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63688" y="2344573"/>
            <a:ext cx="12560623" cy="126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b="true" sz="9165" spc="-467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preprocessing</a:t>
            </a:r>
          </a:p>
        </p:txBody>
      </p:sp>
      <p:grpSp>
        <p:nvGrpSpPr>
          <p:cNvPr name="Group 9" id="9"/>
          <p:cNvGrpSpPr/>
          <p:nvPr/>
        </p:nvGrpSpPr>
        <p:grpSpPr>
          <a:xfrm rot="-2843285">
            <a:off x="15891151" y="9218401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843285">
            <a:off x="17598749" y="8269499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50380" y="4197964"/>
            <a:ext cx="14079726" cy="459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162" indent="-279581" lvl="1">
              <a:lnSpc>
                <a:spcPts val="3625"/>
              </a:lnSpc>
              <a:buFont typeface="Arial"/>
              <a:buChar char="•"/>
            </a:pPr>
            <a:r>
              <a:rPr lang="en-US" sz="2589" spc="3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1-DAY LAG FEATURES TO PREVENT DATA LEAKAGE</a:t>
            </a:r>
          </a:p>
          <a:p>
            <a:pPr algn="l" marL="559162" indent="-279581" lvl="1">
              <a:lnSpc>
                <a:spcPts val="3625"/>
              </a:lnSpc>
              <a:buFont typeface="Arial"/>
              <a:buChar char="•"/>
            </a:pPr>
            <a:r>
              <a:rPr lang="en-US" sz="2589" spc="3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PREVIOUS DAY’S VALUES AS MODEL INPUTS</a:t>
            </a:r>
          </a:p>
          <a:p>
            <a:pPr algn="l" marL="559162" indent="-279581" lvl="1">
              <a:lnSpc>
                <a:spcPts val="3625"/>
              </a:lnSpc>
              <a:buFont typeface="Arial"/>
              <a:buChar char="•"/>
            </a:pPr>
            <a:r>
              <a:rPr lang="en-US" sz="2589" spc="3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CALCULATED TECHNICAL INDICATORS</a:t>
            </a:r>
          </a:p>
          <a:p>
            <a:pPr algn="l" marL="559162" indent="-279581" lvl="1">
              <a:lnSpc>
                <a:spcPts val="3625"/>
              </a:lnSpc>
              <a:buFont typeface="Arial"/>
              <a:buChar char="•"/>
            </a:pPr>
            <a:r>
              <a:rPr lang="en-US" sz="2589" spc="3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REMOVED ROWS WITH MISSING VALUES</a:t>
            </a:r>
          </a:p>
          <a:p>
            <a:pPr algn="l" marL="559162" indent="-279581" lvl="1">
              <a:lnSpc>
                <a:spcPts val="3625"/>
              </a:lnSpc>
              <a:buFont typeface="Arial"/>
              <a:buChar char="•"/>
            </a:pPr>
            <a:r>
              <a:rPr lang="en-US" sz="2589" spc="3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PERFORMED TIME-SERIES AWARE TRAIN-TEST SPLIT</a:t>
            </a:r>
          </a:p>
          <a:p>
            <a:pPr algn="l">
              <a:lnSpc>
                <a:spcPts val="3625"/>
              </a:lnSpc>
            </a:pPr>
          </a:p>
          <a:p>
            <a:pPr algn="l">
              <a:lnSpc>
                <a:spcPts val="3625"/>
              </a:lnSpc>
            </a:pPr>
          </a:p>
          <a:p>
            <a:pPr algn="l">
              <a:lnSpc>
                <a:spcPts val="3625"/>
              </a:lnSpc>
            </a:pPr>
          </a:p>
          <a:p>
            <a:pPr algn="l">
              <a:lnSpc>
                <a:spcPts val="3625"/>
              </a:lnSpc>
            </a:pPr>
            <a:r>
              <a:rPr lang="en-US" sz="2589" spc="3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SAME IS SHOWN AHEAD WITH SOME CODE SINPPETS FOR BETTER UNDERSTANING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43285">
            <a:off x="-1186783" y="-213516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1302339" y="2163072"/>
            <a:ext cx="2882535" cy="0"/>
          </a:xfrm>
          <a:prstGeom prst="line">
            <a:avLst/>
          </a:prstGeom>
          <a:ln cap="flat" w="28575">
            <a:solidFill>
              <a:srgbClr val="459DA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2677988" y="4242619"/>
            <a:ext cx="12980285" cy="4400241"/>
          </a:xfrm>
          <a:custGeom>
            <a:avLst/>
            <a:gdLst/>
            <a:ahLst/>
            <a:cxnLst/>
            <a:rect r="r" b="b" t="t" l="l"/>
            <a:pathLst>
              <a:path h="4400241" w="12980285">
                <a:moveTo>
                  <a:pt x="0" y="0"/>
                </a:moveTo>
                <a:lnTo>
                  <a:pt x="12980285" y="0"/>
                </a:lnTo>
                <a:lnTo>
                  <a:pt x="12980285" y="4400242"/>
                </a:lnTo>
                <a:lnTo>
                  <a:pt x="0" y="4400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47" r="0" b="-254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98069" y="1114425"/>
            <a:ext cx="8379897" cy="95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1"/>
              </a:lnSpc>
            </a:pPr>
            <a:r>
              <a:rPr lang="en-US" b="true" sz="6845" spc="-349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collection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32623" y="2512027"/>
            <a:ext cx="10110788" cy="10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  <a:spcBef>
                <a:spcPct val="0"/>
              </a:spcBef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HISTORICAL STOCK DATA WAS COLLECTED USING YAHOO FINANCE.</a:t>
            </a:r>
          </a:p>
          <a:p>
            <a:pPr algn="ctr">
              <a:lnSpc>
                <a:spcPts val="2867"/>
              </a:lnSpc>
              <a:spcBef>
                <a:spcPct val="0"/>
              </a:spcBef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STOCK USED: NVIDIA (NVDA)</a:t>
            </a:r>
          </a:p>
          <a:p>
            <a:pPr algn="ctr">
              <a:lnSpc>
                <a:spcPts val="2867"/>
              </a:lnSpc>
              <a:spcBef>
                <a:spcPct val="0"/>
              </a:spcBef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PERIOD: 2022 – 2024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653659" y="3944522"/>
            <a:ext cx="13288325" cy="4619700"/>
          </a:xfrm>
          <a:custGeom>
            <a:avLst/>
            <a:gdLst/>
            <a:ahLst/>
            <a:cxnLst/>
            <a:rect r="r" b="b" t="t" l="l"/>
            <a:pathLst>
              <a:path h="4619700" w="13288325">
                <a:moveTo>
                  <a:pt x="0" y="0"/>
                </a:moveTo>
                <a:lnTo>
                  <a:pt x="13288325" y="0"/>
                </a:lnTo>
                <a:lnTo>
                  <a:pt x="13288325" y="4619700"/>
                </a:lnTo>
                <a:lnTo>
                  <a:pt x="0" y="4619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36705" y="1114425"/>
            <a:ext cx="11754070" cy="10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7709" spc="-393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Preventing data leakage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60008" y="2435867"/>
            <a:ext cx="9767985" cy="53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2599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c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ted l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ag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eatu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 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mode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 on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ly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se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pa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599" strike="noStrike" u="none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19358" y="1897628"/>
            <a:ext cx="13698273" cy="3304196"/>
          </a:xfrm>
          <a:custGeom>
            <a:avLst/>
            <a:gdLst/>
            <a:ahLst/>
            <a:cxnLst/>
            <a:rect r="r" b="b" t="t" l="l"/>
            <a:pathLst>
              <a:path h="3304196" w="13698273">
                <a:moveTo>
                  <a:pt x="0" y="0"/>
                </a:moveTo>
                <a:lnTo>
                  <a:pt x="13698273" y="0"/>
                </a:lnTo>
                <a:lnTo>
                  <a:pt x="13698273" y="3304196"/>
                </a:lnTo>
                <a:lnTo>
                  <a:pt x="0" y="330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t="-469" r="-7489" b="-873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19358" y="5427037"/>
            <a:ext cx="13698273" cy="4135785"/>
          </a:xfrm>
          <a:custGeom>
            <a:avLst/>
            <a:gdLst/>
            <a:ahLst/>
            <a:cxnLst/>
            <a:rect r="r" b="b" t="t" l="l"/>
            <a:pathLst>
              <a:path h="4135785" w="13698273">
                <a:moveTo>
                  <a:pt x="0" y="0"/>
                </a:moveTo>
                <a:lnTo>
                  <a:pt x="13698273" y="0"/>
                </a:lnTo>
                <a:lnTo>
                  <a:pt x="13698273" y="4135785"/>
                </a:lnTo>
                <a:lnTo>
                  <a:pt x="0" y="4135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82" r="0" b="-227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73519" y="133350"/>
            <a:ext cx="11127945" cy="125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9165" spc="-467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Technical indicators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59826" y="762163"/>
            <a:ext cx="8614957" cy="96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979" spc="-355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Technical indicators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9463" y="5219953"/>
            <a:ext cx="6632882" cy="60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2999" u="sng">
                <a:solidFill>
                  <a:srgbClr val="202729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Why technical indicators?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9463" y="2004904"/>
            <a:ext cx="9580868" cy="303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SIMPLE MOVING AVERAGE (SMA)</a:t>
            </a:r>
          </a:p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EXPONENTIAL MOVING AVERAGE (EMA)</a:t>
            </a:r>
          </a:p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RELATIVE STRENGTH INDEX (RSI)</a:t>
            </a:r>
          </a:p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MACD &amp; SIGNAL LINE</a:t>
            </a:r>
          </a:p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BOLLINGER BANDS</a:t>
            </a:r>
          </a:p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STOCHASTIC OSCILLATOR (%K, %D)</a:t>
            </a:r>
          </a:p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AVERAGE TRUE RANGE (ATR)</a:t>
            </a:r>
          </a:p>
          <a:p>
            <a:pPr algn="l" marL="411392" indent="-205696" lvl="1">
              <a:lnSpc>
                <a:spcPts val="2667"/>
              </a:lnSpc>
              <a:buFont typeface="Arial"/>
              <a:buChar char="•"/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PREVIOUS CLOSE PRICE</a:t>
            </a:r>
          </a:p>
          <a:p>
            <a:pPr algn="l">
              <a:lnSpc>
                <a:spcPts val="2667"/>
              </a:lnSpc>
            </a:pPr>
            <a:r>
              <a:rPr lang="en-US" sz="1905" spc="2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INDICATORS CAPTURE TREND, MOMENTUM, AND VOLATILITY.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9463" y="6105779"/>
            <a:ext cx="10382216" cy="189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284" indent="-231142" lvl="1">
              <a:lnSpc>
                <a:spcPts val="2997"/>
              </a:lnSpc>
              <a:buFont typeface="Arial"/>
              <a:buChar char="•"/>
            </a:pPr>
            <a:r>
              <a:rPr lang="en-US" sz="2141" spc="2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MATHEMATICAL REPRESENTATION OF PRICE BEHAVIOR</a:t>
            </a:r>
          </a:p>
          <a:p>
            <a:pPr algn="l" marL="462284" indent="-231142" lvl="1">
              <a:lnSpc>
                <a:spcPts val="2997"/>
              </a:lnSpc>
              <a:buFont typeface="Arial"/>
              <a:buChar char="•"/>
            </a:pPr>
            <a:r>
              <a:rPr lang="en-US" sz="2141" spc="2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CAPTURE TREND DIRECTION</a:t>
            </a:r>
          </a:p>
          <a:p>
            <a:pPr algn="l" marL="462284" indent="-231142" lvl="1">
              <a:lnSpc>
                <a:spcPts val="2997"/>
              </a:lnSpc>
              <a:buFont typeface="Arial"/>
              <a:buChar char="•"/>
            </a:pPr>
            <a:r>
              <a:rPr lang="en-US" sz="2141" spc="2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OVERBOUGHT/OVERSOLD CONDITIONS</a:t>
            </a:r>
          </a:p>
          <a:p>
            <a:pPr algn="l" marL="462284" indent="-231142" lvl="1">
              <a:lnSpc>
                <a:spcPts val="2997"/>
              </a:lnSpc>
              <a:buFont typeface="Arial"/>
              <a:buChar char="•"/>
            </a:pPr>
            <a:r>
              <a:rPr lang="en-US" sz="2141" spc="2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MEASURE VOLATILITY</a:t>
            </a:r>
          </a:p>
          <a:p>
            <a:pPr algn="l" marL="462284" indent="-231142" lvl="1">
              <a:lnSpc>
                <a:spcPts val="2997"/>
              </a:lnSpc>
              <a:buFont typeface="Arial"/>
              <a:buChar char="•"/>
            </a:pPr>
            <a:r>
              <a:rPr lang="en-US" sz="2141" spc="2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MODEL LEARNING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5857" y="1361697"/>
            <a:ext cx="10489262" cy="2989440"/>
          </a:xfrm>
          <a:custGeom>
            <a:avLst/>
            <a:gdLst/>
            <a:ahLst/>
            <a:cxnLst/>
            <a:rect r="r" b="b" t="t" l="l"/>
            <a:pathLst>
              <a:path h="2989440" w="10489262">
                <a:moveTo>
                  <a:pt x="0" y="0"/>
                </a:moveTo>
                <a:lnTo>
                  <a:pt x="10489262" y="0"/>
                </a:lnTo>
                <a:lnTo>
                  <a:pt x="10489262" y="2989440"/>
                </a:lnTo>
                <a:lnTo>
                  <a:pt x="0" y="298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07933" y="4446387"/>
            <a:ext cx="10083385" cy="5838887"/>
          </a:xfrm>
          <a:custGeom>
            <a:avLst/>
            <a:gdLst/>
            <a:ahLst/>
            <a:cxnLst/>
            <a:rect r="r" b="b" t="t" l="l"/>
            <a:pathLst>
              <a:path h="5838887" w="10083385">
                <a:moveTo>
                  <a:pt x="0" y="0"/>
                </a:moveTo>
                <a:lnTo>
                  <a:pt x="10083385" y="0"/>
                </a:lnTo>
                <a:lnTo>
                  <a:pt x="10083385" y="5838887"/>
                </a:lnTo>
                <a:lnTo>
                  <a:pt x="0" y="5838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14279" y="254296"/>
            <a:ext cx="8440221" cy="101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6"/>
              </a:lnSpc>
            </a:pPr>
            <a:r>
              <a:rPr lang="en-US" sz="7298" spc="-372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Modelling Backtest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9711" y="4840117"/>
            <a:ext cx="6659360" cy="5329215"/>
          </a:xfrm>
          <a:custGeom>
            <a:avLst/>
            <a:gdLst/>
            <a:ahLst/>
            <a:cxnLst/>
            <a:rect r="r" b="b" t="t" l="l"/>
            <a:pathLst>
              <a:path h="5329215" w="6659360">
                <a:moveTo>
                  <a:pt x="0" y="0"/>
                </a:moveTo>
                <a:lnTo>
                  <a:pt x="6659359" y="0"/>
                </a:lnTo>
                <a:lnTo>
                  <a:pt x="6659359" y="5329215"/>
                </a:lnTo>
                <a:lnTo>
                  <a:pt x="0" y="5329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76197" y="4992517"/>
            <a:ext cx="9897439" cy="4998639"/>
          </a:xfrm>
          <a:custGeom>
            <a:avLst/>
            <a:gdLst/>
            <a:ahLst/>
            <a:cxnLst/>
            <a:rect r="r" b="b" t="t" l="l"/>
            <a:pathLst>
              <a:path h="4998639" w="9897439">
                <a:moveTo>
                  <a:pt x="0" y="0"/>
                </a:moveTo>
                <a:lnTo>
                  <a:pt x="9897439" y="0"/>
                </a:lnTo>
                <a:lnTo>
                  <a:pt x="9897439" y="4998639"/>
                </a:lnTo>
                <a:lnTo>
                  <a:pt x="0" y="499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84" t="0" r="-1584" b="-430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70690" y="664818"/>
            <a:ext cx="5987914" cy="79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6"/>
              </a:lnSpc>
            </a:pPr>
            <a:r>
              <a:rPr lang="en-US" sz="5684" spc="-289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 Architeture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9391" y="1692329"/>
            <a:ext cx="11113200" cy="285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 LAYER: TECHNICAL INDICATORS</a:t>
            </a:r>
          </a:p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HIDDEN LAYER 1: 128 NEURONS (RELU)</a:t>
            </a:r>
          </a:p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DROPOUT LAYER (PREVENTS OVERFITTING)</a:t>
            </a:r>
          </a:p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HIDDEN LAYER 2: 64 NEURONS (RELU)</a:t>
            </a:r>
          </a:p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HIDDEN LAYER 3: 32 NEURONS (RELU)</a:t>
            </a:r>
          </a:p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 LAYER: 1 NEURON (NEXT-DAY CLOSE PRICE)</a:t>
            </a:r>
          </a:p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LOSS FUNCTION: MEAN SQUARED ERROR</a:t>
            </a:r>
          </a:p>
          <a:p>
            <a:pPr algn="just" marL="435518" indent="-217759" lvl="1">
              <a:lnSpc>
                <a:spcPts val="2824"/>
              </a:lnSpc>
              <a:buFont typeface="Arial"/>
              <a:buChar char="•"/>
            </a:pPr>
            <a:r>
              <a:rPr lang="en-US" sz="2017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OPTIMIZER: ADAM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58724" y="2772417"/>
            <a:ext cx="5589099" cy="5681025"/>
          </a:xfrm>
          <a:custGeom>
            <a:avLst/>
            <a:gdLst/>
            <a:ahLst/>
            <a:cxnLst/>
            <a:rect r="r" b="b" t="t" l="l"/>
            <a:pathLst>
              <a:path h="5681025" w="5589099">
                <a:moveTo>
                  <a:pt x="0" y="0"/>
                </a:moveTo>
                <a:lnTo>
                  <a:pt x="5589099" y="0"/>
                </a:lnTo>
                <a:lnTo>
                  <a:pt x="5589099" y="5681026"/>
                </a:lnTo>
                <a:lnTo>
                  <a:pt x="0" y="568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86613" y="2813277"/>
            <a:ext cx="8229910" cy="5640166"/>
          </a:xfrm>
          <a:custGeom>
            <a:avLst/>
            <a:gdLst/>
            <a:ahLst/>
            <a:cxnLst/>
            <a:rect r="r" b="b" t="t" l="l"/>
            <a:pathLst>
              <a:path h="5640166" w="8229910">
                <a:moveTo>
                  <a:pt x="0" y="0"/>
                </a:moveTo>
                <a:lnTo>
                  <a:pt x="8229910" y="0"/>
                </a:lnTo>
                <a:lnTo>
                  <a:pt x="8229910" y="5640166"/>
                </a:lnTo>
                <a:lnTo>
                  <a:pt x="0" y="5640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86786" y="489701"/>
            <a:ext cx="9330479" cy="161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0"/>
              </a:lnSpc>
            </a:pPr>
            <a:r>
              <a:rPr lang="en-US" b="true" sz="6197" spc="-316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Training Process and  Model Evaluation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82976" y="2099032"/>
            <a:ext cx="14573573" cy="7159268"/>
          </a:xfrm>
          <a:custGeom>
            <a:avLst/>
            <a:gdLst/>
            <a:ahLst/>
            <a:cxnLst/>
            <a:rect r="r" b="b" t="t" l="l"/>
            <a:pathLst>
              <a:path h="7159268" w="14573573">
                <a:moveTo>
                  <a:pt x="0" y="0"/>
                </a:moveTo>
                <a:lnTo>
                  <a:pt x="14573573" y="0"/>
                </a:lnTo>
                <a:lnTo>
                  <a:pt x="14573573" y="7159268"/>
                </a:lnTo>
                <a:lnTo>
                  <a:pt x="0" y="7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143509" y="424344"/>
            <a:ext cx="9823239" cy="90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b="true" sz="6525" spc="-332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Visualisation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416" y="4989297"/>
            <a:ext cx="6257918" cy="5134702"/>
          </a:xfrm>
          <a:custGeom>
            <a:avLst/>
            <a:gdLst/>
            <a:ahLst/>
            <a:cxnLst/>
            <a:rect r="r" b="b" t="t" l="l"/>
            <a:pathLst>
              <a:path h="5134702" w="6257918">
                <a:moveTo>
                  <a:pt x="0" y="0"/>
                </a:moveTo>
                <a:lnTo>
                  <a:pt x="6257918" y="0"/>
                </a:lnTo>
                <a:lnTo>
                  <a:pt x="6257918" y="5134702"/>
                </a:lnTo>
                <a:lnTo>
                  <a:pt x="0" y="5134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3256" y="2963434"/>
            <a:ext cx="6604822" cy="3337792"/>
          </a:xfrm>
          <a:custGeom>
            <a:avLst/>
            <a:gdLst/>
            <a:ahLst/>
            <a:cxnLst/>
            <a:rect r="r" b="b" t="t" l="l"/>
            <a:pathLst>
              <a:path h="3337792" w="6604822">
                <a:moveTo>
                  <a:pt x="0" y="0"/>
                </a:moveTo>
                <a:lnTo>
                  <a:pt x="6604822" y="0"/>
                </a:lnTo>
                <a:lnTo>
                  <a:pt x="6604822" y="3337792"/>
                </a:lnTo>
                <a:lnTo>
                  <a:pt x="0" y="3337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48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62189" y="5189962"/>
            <a:ext cx="5139671" cy="4733373"/>
          </a:xfrm>
          <a:custGeom>
            <a:avLst/>
            <a:gdLst/>
            <a:ahLst/>
            <a:cxnLst/>
            <a:rect r="r" b="b" t="t" l="l"/>
            <a:pathLst>
              <a:path h="4733373" w="5139671">
                <a:moveTo>
                  <a:pt x="0" y="0"/>
                </a:moveTo>
                <a:lnTo>
                  <a:pt x="5139671" y="0"/>
                </a:lnTo>
                <a:lnTo>
                  <a:pt x="5139671" y="4733372"/>
                </a:lnTo>
                <a:lnTo>
                  <a:pt x="0" y="4733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612" y="423960"/>
            <a:ext cx="8901388" cy="127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0"/>
              </a:lnSpc>
            </a:pPr>
            <a:r>
              <a:rPr lang="en-US" sz="4927" spc="-251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Trading strategy and risk management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2612" y="2165046"/>
            <a:ext cx="6069525" cy="24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 spc="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BUY WHEN: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 spc="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PREDICTED PRICE &gt; CURRENT PRICE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 spc="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SELL WHEN: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 spc="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STOP-LOSS TRIGGERED (−2%)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 spc="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TAKE-PROFIT TRIGGERED (+4%)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 spc="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PREDICTS PRICE DROP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95913" y="-66675"/>
            <a:ext cx="8592443" cy="258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078" spc="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STOP-LOSS:</a:t>
            </a:r>
          </a:p>
          <a:p>
            <a:pPr algn="l" marL="448750" indent="-224375" lvl="1">
              <a:lnSpc>
                <a:spcPts val="2909"/>
              </a:lnSpc>
              <a:buFont typeface="Arial"/>
              <a:buChar char="•"/>
            </a:pPr>
            <a:r>
              <a:rPr lang="en-US" sz="2078" spc="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LIMITS DOWNSIDE RISK</a:t>
            </a:r>
          </a:p>
          <a:p>
            <a:pPr algn="l" marL="448750" indent="-224375" lvl="1">
              <a:lnSpc>
                <a:spcPts val="2909"/>
              </a:lnSpc>
              <a:buFont typeface="Arial"/>
              <a:buChar char="•"/>
            </a:pPr>
            <a:r>
              <a:rPr lang="en-US" sz="2078" spc="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PROTECTS CAPITAL</a:t>
            </a:r>
          </a:p>
          <a:p>
            <a:pPr algn="l">
              <a:lnSpc>
                <a:spcPts val="2909"/>
              </a:lnSpc>
            </a:pPr>
            <a:r>
              <a:rPr lang="en-US" sz="2078" spc="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TAKE-PROFIT:</a:t>
            </a:r>
          </a:p>
          <a:p>
            <a:pPr algn="l" marL="448750" indent="-224375" lvl="1">
              <a:lnSpc>
                <a:spcPts val="2909"/>
              </a:lnSpc>
              <a:buFont typeface="Arial"/>
              <a:buChar char="•"/>
            </a:pPr>
            <a:r>
              <a:rPr lang="en-US" sz="2078" spc="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LOCKS IN GAINS</a:t>
            </a:r>
          </a:p>
          <a:p>
            <a:pPr algn="l" marL="448750" indent="-224375" lvl="1">
              <a:lnSpc>
                <a:spcPts val="2909"/>
              </a:lnSpc>
              <a:buFont typeface="Arial"/>
              <a:buChar char="•"/>
            </a:pPr>
            <a:r>
              <a:rPr lang="en-US" sz="2078" spc="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AVOIDS EMOTIONAL TRADING</a:t>
            </a:r>
          </a:p>
          <a:p>
            <a:pPr algn="l" marL="448750" indent="-224375" lvl="1">
              <a:lnSpc>
                <a:spcPts val="2909"/>
              </a:lnSpc>
              <a:buFont typeface="Arial"/>
              <a:buChar char="•"/>
            </a:pPr>
            <a:r>
              <a:rPr lang="en-US" sz="2078" spc="2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MANAGEMENT IMPROVES LONG-TERM STABILITY.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65033" y="2386134"/>
            <a:ext cx="9757933" cy="3327506"/>
            <a:chOff x="0" y="0"/>
            <a:chExt cx="2569991" cy="876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9991" cy="876380"/>
            </a:xfrm>
            <a:custGeom>
              <a:avLst/>
              <a:gdLst/>
              <a:ahLst/>
              <a:cxnLst/>
              <a:rect r="r" b="b" t="t" l="l"/>
              <a:pathLst>
                <a:path h="876380" w="2569991">
                  <a:moveTo>
                    <a:pt x="26976" y="0"/>
                  </a:moveTo>
                  <a:lnTo>
                    <a:pt x="2543015" y="0"/>
                  </a:lnTo>
                  <a:cubicBezTo>
                    <a:pt x="2557913" y="0"/>
                    <a:pt x="2569991" y="12077"/>
                    <a:pt x="2569991" y="26976"/>
                  </a:cubicBezTo>
                  <a:lnTo>
                    <a:pt x="2569991" y="849405"/>
                  </a:lnTo>
                  <a:cubicBezTo>
                    <a:pt x="2569991" y="856559"/>
                    <a:pt x="2567149" y="863420"/>
                    <a:pt x="2562090" y="868479"/>
                  </a:cubicBezTo>
                  <a:cubicBezTo>
                    <a:pt x="2557031" y="873538"/>
                    <a:pt x="2550170" y="876380"/>
                    <a:pt x="2543015" y="876380"/>
                  </a:cubicBezTo>
                  <a:lnTo>
                    <a:pt x="26976" y="876380"/>
                  </a:lnTo>
                  <a:cubicBezTo>
                    <a:pt x="12077" y="876380"/>
                    <a:pt x="0" y="864303"/>
                    <a:pt x="0" y="849405"/>
                  </a:cubicBezTo>
                  <a:lnTo>
                    <a:pt x="0" y="26976"/>
                  </a:lnTo>
                  <a:cubicBezTo>
                    <a:pt x="0" y="19821"/>
                    <a:pt x="2842" y="12960"/>
                    <a:pt x="7901" y="7901"/>
                  </a:cubicBezTo>
                  <a:cubicBezTo>
                    <a:pt x="12960" y="2842"/>
                    <a:pt x="19821" y="0"/>
                    <a:pt x="26976" y="0"/>
                  </a:cubicBezTo>
                  <a:close/>
                </a:path>
              </a:pathLst>
            </a:custGeom>
            <a:solidFill>
              <a:srgbClr val="459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69991" cy="93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  <a:r>
                <a:rPr lang="en-US" b="true" sz="2048" spc="256" u="sng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RESULTS 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DNN SUCCESSFULLY PREDICTED PRICE TRENDS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TRADING STRATEGY GENERATED COMPETITIVE RETURNS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RISK-MANAGED APPROACH REDUCED DRAWDOWNS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MODEL OUTPERFORMED BASIC LINEAR MODELS</a:t>
              </a:r>
            </a:p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265033" y="6217497"/>
            <a:ext cx="9757933" cy="3632349"/>
            <a:chOff x="0" y="0"/>
            <a:chExt cx="2569991" cy="9566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9991" cy="956668"/>
            </a:xfrm>
            <a:custGeom>
              <a:avLst/>
              <a:gdLst/>
              <a:ahLst/>
              <a:cxnLst/>
              <a:rect r="r" b="b" t="t" l="l"/>
              <a:pathLst>
                <a:path h="956668" w="2569991">
                  <a:moveTo>
                    <a:pt x="40166" y="0"/>
                  </a:moveTo>
                  <a:lnTo>
                    <a:pt x="2529825" y="0"/>
                  </a:lnTo>
                  <a:cubicBezTo>
                    <a:pt x="2552008" y="0"/>
                    <a:pt x="2569991" y="17983"/>
                    <a:pt x="2569991" y="40166"/>
                  </a:cubicBezTo>
                  <a:lnTo>
                    <a:pt x="2569991" y="916502"/>
                  </a:lnTo>
                  <a:cubicBezTo>
                    <a:pt x="2569991" y="938685"/>
                    <a:pt x="2552008" y="956668"/>
                    <a:pt x="2529825" y="956668"/>
                  </a:cubicBezTo>
                  <a:lnTo>
                    <a:pt x="40166" y="956668"/>
                  </a:lnTo>
                  <a:cubicBezTo>
                    <a:pt x="17983" y="956668"/>
                    <a:pt x="0" y="938685"/>
                    <a:pt x="0" y="916502"/>
                  </a:cubicBezTo>
                  <a:lnTo>
                    <a:pt x="0" y="40166"/>
                  </a:lnTo>
                  <a:cubicBezTo>
                    <a:pt x="0" y="17983"/>
                    <a:pt x="17983" y="0"/>
                    <a:pt x="40166" y="0"/>
                  </a:cubicBezTo>
                  <a:close/>
                </a:path>
              </a:pathLst>
            </a:custGeom>
            <a:solidFill>
              <a:srgbClr val="459DA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69991" cy="1013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  <a:r>
                <a:rPr lang="en-US" b="true" sz="2048" spc="256" u="sng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CHALLENGES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MARKET VOLATILITY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OVERFITTING RISK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FEATURE SCALING ISSUES</a:t>
              </a:r>
            </a:p>
            <a:p>
              <a:pPr algn="l" marL="442230" indent="-221115" lvl="1">
                <a:lnSpc>
                  <a:spcPts val="2867"/>
                </a:lnSpc>
                <a:buFont typeface="Arial"/>
                <a:buChar char="•"/>
              </a:pPr>
              <a:r>
                <a:rPr lang="en-US" sz="2048" spc="25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AVOIDING DATA LEAKAGE</a:t>
              </a:r>
            </a:p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2948" y="799904"/>
            <a:ext cx="16016352" cy="125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9165" spc="-467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Results and challanges faced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43285">
            <a:off x="14115223" y="9160793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825281" y="2649387"/>
            <a:ext cx="2637438" cy="0"/>
          </a:xfrm>
          <a:prstGeom prst="line">
            <a:avLst/>
          </a:prstGeom>
          <a:ln cap="flat" w="28575">
            <a:solidFill>
              <a:srgbClr val="459DA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-2843285">
            <a:off x="-1415531" y="9341190"/>
            <a:ext cx="6153687" cy="7687439"/>
            <a:chOff x="0" y="0"/>
            <a:chExt cx="1620724" cy="20246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0724" cy="2024675"/>
            </a:xfrm>
            <a:custGeom>
              <a:avLst/>
              <a:gdLst/>
              <a:ahLst/>
              <a:cxnLst/>
              <a:rect r="r" b="b" t="t" l="l"/>
              <a:pathLst>
                <a:path h="2024675" w="1620724">
                  <a:moveTo>
                    <a:pt x="64163" y="0"/>
                  </a:moveTo>
                  <a:lnTo>
                    <a:pt x="1556561" y="0"/>
                  </a:lnTo>
                  <a:cubicBezTo>
                    <a:pt x="1573578" y="0"/>
                    <a:pt x="1589898" y="6760"/>
                    <a:pt x="1601931" y="18793"/>
                  </a:cubicBezTo>
                  <a:cubicBezTo>
                    <a:pt x="1613964" y="30826"/>
                    <a:pt x="1620724" y="47146"/>
                    <a:pt x="1620724" y="64163"/>
                  </a:cubicBezTo>
                  <a:lnTo>
                    <a:pt x="1620724" y="1960513"/>
                  </a:lnTo>
                  <a:cubicBezTo>
                    <a:pt x="1620724" y="1995949"/>
                    <a:pt x="1591998" y="2024675"/>
                    <a:pt x="1556561" y="2024675"/>
                  </a:cubicBezTo>
                  <a:lnTo>
                    <a:pt x="64163" y="2024675"/>
                  </a:lnTo>
                  <a:cubicBezTo>
                    <a:pt x="47146" y="2024675"/>
                    <a:pt x="30826" y="2017915"/>
                    <a:pt x="18793" y="2005882"/>
                  </a:cubicBezTo>
                  <a:cubicBezTo>
                    <a:pt x="6760" y="1993850"/>
                    <a:pt x="0" y="1977529"/>
                    <a:pt x="0" y="1960513"/>
                  </a:cubicBezTo>
                  <a:lnTo>
                    <a:pt x="0" y="64163"/>
                  </a:lnTo>
                  <a:cubicBezTo>
                    <a:pt x="0" y="47146"/>
                    <a:pt x="6760" y="30826"/>
                    <a:pt x="18793" y="18793"/>
                  </a:cubicBezTo>
                  <a:cubicBezTo>
                    <a:pt x="30826" y="6760"/>
                    <a:pt x="47146" y="0"/>
                    <a:pt x="641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20724" cy="208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507999" y="527801"/>
            <a:ext cx="14048200" cy="213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0"/>
              </a:lnSpc>
            </a:pPr>
            <a:r>
              <a:rPr lang="en-US" sz="8292" spc="-422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Future Improvement and 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2538" y="2946695"/>
            <a:ext cx="4763453" cy="49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b="true" sz="2767" spc="34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IMPROVEMENT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6766" y="3628865"/>
            <a:ext cx="11552761" cy="1814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LSTM SEQUENCE MODELING</a:t>
            </a: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MULTI-STOCK GENERALIZATION</a:t>
            </a: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SHARPE RATIO &amp; MAX DRAWDOWN ANALYSIS</a:t>
            </a: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DIRECTION CLASSIFICATION MODEL</a:t>
            </a: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DEPLOYMENT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6766" y="5651140"/>
            <a:ext cx="5040538" cy="464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629" spc="32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6766" y="6306111"/>
            <a:ext cx="12942570" cy="145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DEEP NEURAL NETWORKS EFFECTIVELY MODEL STOCK PRICE BEHAVIOR</a:t>
            </a: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INDICATORS ENHANCE PREDICTIVE POWER</a:t>
            </a: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CONVERTING PREDICTIONS INTO TRADING STRATEGY INCREASES PRACTICAL VALUE</a:t>
            </a: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MANAGEMENT IS ESSENTIAL IN FINANCIAL MODELING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361449" y="6843571"/>
            <a:ext cx="6492240" cy="0"/>
          </a:xfrm>
          <a:prstGeom prst="line">
            <a:avLst/>
          </a:prstGeom>
          <a:ln cap="flat" w="28575">
            <a:solidFill>
              <a:srgbClr val="459DA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843285">
            <a:off x="-981607" y="750099"/>
            <a:ext cx="1676196" cy="1676196"/>
            <a:chOff x="0" y="0"/>
            <a:chExt cx="441467" cy="441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467" cy="441467"/>
            </a:xfrm>
            <a:custGeom>
              <a:avLst/>
              <a:gdLst/>
              <a:ahLst/>
              <a:cxnLst/>
              <a:rect r="r" b="b" t="t" l="l"/>
              <a:pathLst>
                <a:path h="441467" w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04251" y="3327945"/>
            <a:ext cx="15279498" cy="315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9"/>
              </a:lnSpc>
            </a:pPr>
            <a:r>
              <a:rPr lang="en-US" sz="22874" spc="-1166" b="true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</a:t>
            </a:r>
          </a:p>
        </p:txBody>
      </p:sp>
      <p:grpSp>
        <p:nvGrpSpPr>
          <p:cNvPr name="Group 13" id="13"/>
          <p:cNvGrpSpPr/>
          <p:nvPr/>
        </p:nvGrpSpPr>
        <p:grpSpPr>
          <a:xfrm rot="-2843285">
            <a:off x="14115223" y="9160793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DAHBH-McHnk</dc:identifier>
  <dcterms:modified xsi:type="dcterms:W3CDTF">2011-08-01T06:04:30Z</dcterms:modified>
  <cp:revision>1</cp:revision>
  <dc:title>Blue Gradient Modern Simple Stock Market Presentation</dc:title>
</cp:coreProperties>
</file>